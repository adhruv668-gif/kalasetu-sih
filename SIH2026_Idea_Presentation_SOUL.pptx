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8686800" cy="914400"/>
          </a:xfrm>
          <a:prstGeom prst="rect">
            <a:avLst/>
          </a:prstGeom>
          <a:noFill/>
        </p:spPr>
        <p:txBody>
          <a:bodyPr wrap="square">
            <a:spAutoFit/>
          </a:bodyPr>
          <a:lstStyle/>
          <a:p>
            <a:pPr>
              <a:defRPr b="1" sz="3200">
                <a:solidFill>
                  <a:srgbClr val="1D3557"/>
                </a:solidFill>
                <a:latin typeface="Georgia"/>
              </a:defRPr>
            </a:pPr>
            <a:r>
              <a:t>SMART INDIA HACKATHON 2026</a:t>
            </a:r>
          </a:p>
        </p:txBody>
      </p:sp>
      <p:pic>
        <p:nvPicPr>
          <p:cNvPr id="4" name="Picture 3" descr="Picture_1.png"/>
          <p:cNvPicPr>
            <a:picLocks noChangeAspect="1"/>
          </p:cNvPicPr>
          <p:nvPr/>
        </p:nvPicPr>
        <p:blipFill>
          <a:blip r:embed="rId2"/>
          <a:stretch>
            <a:fillRect/>
          </a:stretch>
        </p:blipFill>
        <p:spPr>
          <a:xfrm>
            <a:off x="9601200" y="320040"/>
            <a:ext cx="1920240" cy="906701"/>
          </a:xfrm>
          <a:prstGeom prst="rect">
            <a:avLst/>
          </a:prstGeom>
        </p:spPr>
      </p:pic>
      <p:sp>
        <p:nvSpPr>
          <p:cNvPr id="5" name="TextBox 4"/>
          <p:cNvSpPr txBox="1"/>
          <p:nvPr/>
        </p:nvSpPr>
        <p:spPr>
          <a:xfrm>
            <a:off x="822960" y="1645920"/>
            <a:ext cx="6217920" cy="4754880"/>
          </a:xfrm>
          <a:prstGeom prst="rect">
            <a:avLst/>
          </a:prstGeom>
          <a:noFill/>
        </p:spPr>
        <p:txBody>
          <a:bodyPr wrap="square" lIns="0" tIns="0">
            <a:spAutoFit/>
          </a:bodyPr>
          <a:lstStyle/>
          <a:p>
            <a:pPr algn="l"/>
            <a:r>
              <a:rPr b="1" sz="1300">
                <a:solidFill>
                  <a:srgbClr val="0F172A"/>
                </a:solidFill>
                <a:latin typeface="Arial"/>
              </a:rPr>
              <a:t>• Problem Statement ID – </a:t>
            </a:r>
            <a:r>
              <a:rPr b="0" sz="1300">
                <a:solidFill>
                  <a:srgbClr val="0F172A"/>
                </a:solidFill>
                <a:latin typeface="Arial"/>
              </a:rPr>
              <a:t>SIH26090</a:t>
            </a:r>
          </a:p>
          <a:p>
            <a:pPr algn="l">
              <a:spcBef>
                <a:spcPts val="800"/>
              </a:spcBef>
            </a:pPr>
            <a:r>
              <a:rPr b="1" sz="1300">
                <a:solidFill>
                  <a:srgbClr val="0F172A"/>
                </a:solidFill>
                <a:latin typeface="Arial"/>
              </a:rPr>
              <a:t>• Problem Statement Title- </a:t>
            </a:r>
            <a:r>
              <a:rPr b="0" sz="1300">
                <a:solidFill>
                  <a:srgbClr val="0F172A"/>
                </a:solidFill>
                <a:latin typeface="Arial"/>
              </a:rPr>
              <a:t>AI-Driven Market Linkage and Smart Cataloging Mobile Application for Marginalized Artisans</a:t>
            </a:r>
          </a:p>
          <a:p>
            <a:pPr algn="l">
              <a:spcBef>
                <a:spcPts val="800"/>
              </a:spcBef>
            </a:pPr>
            <a:r>
              <a:rPr b="1" sz="1300">
                <a:solidFill>
                  <a:srgbClr val="0F172A"/>
                </a:solidFill>
                <a:latin typeface="Arial"/>
              </a:rPr>
              <a:t>• Theme- </a:t>
            </a:r>
            <a:r>
              <a:rPr b="0" sz="1300">
                <a:solidFill>
                  <a:srgbClr val="0F172A"/>
                </a:solidFill>
                <a:latin typeface="Arial"/>
              </a:rPr>
              <a:t>Heritage &amp; Culture</a:t>
            </a:r>
          </a:p>
          <a:p>
            <a:pPr algn="l">
              <a:spcBef>
                <a:spcPts val="800"/>
              </a:spcBef>
            </a:pPr>
            <a:r>
              <a:rPr b="1" sz="1300">
                <a:solidFill>
                  <a:srgbClr val="0F172A"/>
                </a:solidFill>
                <a:latin typeface="Arial"/>
              </a:rPr>
              <a:t>• PS Category- </a:t>
            </a:r>
            <a:r>
              <a:rPr b="0" sz="1300">
                <a:solidFill>
                  <a:srgbClr val="0F172A"/>
                </a:solidFill>
                <a:latin typeface="Arial"/>
              </a:rPr>
              <a:t>Software</a:t>
            </a:r>
          </a:p>
          <a:p>
            <a:pPr algn="l">
              <a:spcBef>
                <a:spcPts val="800"/>
              </a:spcBef>
            </a:pPr>
            <a:r>
              <a:rPr b="1" sz="1300">
                <a:solidFill>
                  <a:srgbClr val="0F172A"/>
                </a:solidFill>
                <a:latin typeface="Arial"/>
              </a:rPr>
              <a:t>• Team ID- </a:t>
            </a:r>
            <a:r>
              <a:rPr b="1" sz="1300">
                <a:solidFill>
                  <a:srgbClr val="0F172A"/>
                </a:solidFill>
                <a:latin typeface="Arial"/>
              </a:rPr>
              <a:t>SIH-S-B1-063</a:t>
            </a:r>
          </a:p>
          <a:p>
            <a:pPr algn="l">
              <a:spcBef>
                <a:spcPts val="800"/>
              </a:spcBef>
            </a:pPr>
            <a:r>
              <a:rPr b="1" sz="1300">
                <a:solidFill>
                  <a:srgbClr val="0F172A"/>
                </a:solidFill>
                <a:latin typeface="Arial"/>
              </a:rPr>
              <a:t>• Team Name- </a:t>
            </a:r>
            <a:r>
              <a:rPr b="1" sz="1300">
                <a:solidFill>
                  <a:srgbClr val="0F172A"/>
                </a:solidFill>
                <a:latin typeface="Arial"/>
              </a:rPr>
              <a:t>SOUL</a:t>
            </a:r>
          </a:p>
          <a:p>
            <a:pPr algn="l">
              <a:spcBef>
                <a:spcPts val="800"/>
              </a:spcBef>
            </a:pPr>
            <a:r>
              <a:rPr b="1" sz="1300">
                <a:solidFill>
                  <a:srgbClr val="0F172A"/>
                </a:solidFill>
                <a:latin typeface="Arial"/>
              </a:rPr>
              <a:t>• Team Leader- </a:t>
            </a:r>
            <a:r>
              <a:rPr b="1" sz="1300">
                <a:solidFill>
                  <a:srgbClr val="0F172A"/>
                </a:solidFill>
                <a:latin typeface="Arial"/>
              </a:rPr>
              <a:t>Dhruv</a:t>
            </a:r>
          </a:p>
          <a:p>
            <a:pPr algn="l">
              <a:spcBef>
                <a:spcPts val="800"/>
              </a:spcBef>
            </a:pPr>
            <a:r>
              <a:rPr b="1" sz="1300">
                <a:solidFill>
                  <a:srgbClr val="0F172A"/>
                </a:solidFill>
                <a:latin typeface="Arial"/>
              </a:rPr>
              <a:t>• Team Members- </a:t>
            </a:r>
            <a:r>
              <a:rPr b="0" sz="1300">
                <a:solidFill>
                  <a:srgbClr val="0F172A"/>
                </a:solidFill>
                <a:latin typeface="Arial"/>
              </a:rPr>
              <a:t>Vanshika, Angel, Shreya, Shravani, Kartik</a:t>
            </a:r>
          </a:p>
        </p:txBody>
      </p:sp>
      <p:sp>
        <p:nvSpPr>
          <p:cNvPr id="6" name="Hexagon 5"/>
          <p:cNvSpPr/>
          <p:nvPr/>
        </p:nvSpPr>
        <p:spPr>
          <a:xfrm>
            <a:off x="7315200" y="1097280"/>
            <a:ext cx="4297680" cy="5120640"/>
          </a:xfrm>
          <a:prstGeom prst="hexagon">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h_bulb_art.png"/>
          <p:cNvPicPr>
            <a:picLocks noChangeAspect="1"/>
          </p:cNvPicPr>
          <p:nvPr/>
        </p:nvPicPr>
        <p:blipFill>
          <a:blip r:embed="rId3"/>
          <a:stretch>
            <a:fillRect/>
          </a:stretch>
        </p:blipFill>
        <p:spPr>
          <a:xfrm>
            <a:off x="7635240" y="1371600"/>
            <a:ext cx="3657600" cy="422549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20040"/>
            <a:ext cx="1645920" cy="868680"/>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latin typeface="Georgia"/>
              </a:defRPr>
            </a:pPr>
            <a:r>
              <a:t>SOUL</a:t>
            </a:r>
          </a:p>
          <a:p>
            <a:pPr algn="ctr">
              <a:defRPr b="1" sz="850">
                <a:solidFill>
                  <a:srgbClr val="FFFFFF"/>
                </a:solidFill>
                <a:latin typeface="Arial"/>
              </a:defRPr>
            </a:pPr>
            <a:r>
              <a:t>SIH-S-B1-063</a:t>
            </a:r>
          </a:p>
        </p:txBody>
      </p:sp>
      <p:pic>
        <p:nvPicPr>
          <p:cNvPr id="4" name="Picture 3" descr="Picture_1.png"/>
          <p:cNvPicPr>
            <a:picLocks noChangeAspect="1"/>
          </p:cNvPicPr>
          <p:nvPr/>
        </p:nvPicPr>
        <p:blipFill>
          <a:blip r:embed="rId2"/>
          <a:stretch>
            <a:fillRect/>
          </a:stretch>
        </p:blipFill>
        <p:spPr>
          <a:xfrm>
            <a:off x="9875520" y="292608"/>
            <a:ext cx="1645920" cy="777173"/>
          </a:xfrm>
          <a:prstGeom prst="rect">
            <a:avLst/>
          </a:prstGeom>
        </p:spPr>
      </p:pic>
      <p:sp>
        <p:nvSpPr>
          <p:cNvPr id="5" name="TextBox 4"/>
          <p:cNvSpPr txBox="1"/>
          <p:nvPr/>
        </p:nvSpPr>
        <p:spPr>
          <a:xfrm>
            <a:off x="2468880" y="365760"/>
            <a:ext cx="7223760" cy="1005840"/>
          </a:xfrm>
          <a:prstGeom prst="rect">
            <a:avLst/>
          </a:prstGeom>
          <a:noFill/>
        </p:spPr>
        <p:txBody>
          <a:bodyPr wrap="square" tIns="0">
            <a:spAutoFit/>
          </a:bodyPr>
          <a:lstStyle/>
          <a:p>
            <a:pPr algn="ctr">
              <a:defRPr b="1" sz="2400">
                <a:solidFill>
                  <a:srgbClr val="0F172A"/>
                </a:solidFill>
                <a:latin typeface="Georgia"/>
              </a:defRPr>
            </a:pPr>
            <a:r>
              <a:t>AI-DRIVEN MARKET LINKAGE &amp; CATALOGING</a:t>
            </a:r>
          </a:p>
        </p:txBody>
      </p:sp>
      <p:pic>
        <p:nvPicPr>
          <p:cNvPr id="6" name="Picture 5" descr="stages_infographic.png"/>
          <p:cNvPicPr>
            <a:picLocks noChangeAspect="1"/>
          </p:cNvPicPr>
          <p:nvPr/>
        </p:nvPicPr>
        <p:blipFill>
          <a:blip r:embed="rId3"/>
          <a:stretch>
            <a:fillRect/>
          </a:stretch>
        </p:blipFill>
        <p:spPr>
          <a:xfrm>
            <a:off x="731520" y="2651760"/>
            <a:ext cx="10698480" cy="1988727"/>
          </a:xfrm>
          <a:prstGeom prst="rect">
            <a:avLst/>
          </a:prstGeom>
        </p:spPr>
      </p:pic>
      <p:sp>
        <p:nvSpPr>
          <p:cNvPr id="7" name="TextBox 6"/>
          <p:cNvSpPr txBox="1"/>
          <p:nvPr/>
        </p:nvSpPr>
        <p:spPr>
          <a:xfrm>
            <a:off x="1371600" y="1280160"/>
            <a:ext cx="2194560" cy="1234440"/>
          </a:xfrm>
          <a:prstGeom prst="rect">
            <a:avLst/>
          </a:prstGeom>
          <a:noFill/>
        </p:spPr>
        <p:txBody>
          <a:bodyPr wrap="square" lIns="0">
            <a:spAutoFit/>
          </a:bodyPr>
          <a:lstStyle/>
          <a:p>
            <a:pPr algn="ctr">
              <a:defRPr b="1" sz="1200">
                <a:solidFill>
                  <a:srgbClr val="0F172A"/>
                </a:solidFill>
                <a:latin typeface="Arial"/>
              </a:defRPr>
            </a:pPr>
            <a:r>
              <a:t>Stage 2</a:t>
            </a:r>
          </a:p>
          <a:p>
            <a:pPr algn="ctr">
              <a:defRPr b="1" sz="950">
                <a:solidFill>
                  <a:srgbClr val="7E22CE"/>
                </a:solidFill>
                <a:latin typeface="Arial"/>
              </a:defRPr>
            </a:pPr>
            <a:r>
              <a:t>Multimodal Gemini Structuring</a:t>
            </a:r>
          </a:p>
          <a:p>
            <a:pPr algn="ctr">
              <a:defRPr sz="850">
                <a:solidFill>
                  <a:srgbClr val="64748B"/>
                </a:solidFill>
                <a:latin typeface="Arial"/>
              </a:defRPr>
            </a:pPr>
            <a:r>
              <a:t>Extracts title, specs, materials &amp; dimensions via strict JSON schema.</a:t>
            </a:r>
          </a:p>
        </p:txBody>
      </p:sp>
      <p:sp>
        <p:nvSpPr>
          <p:cNvPr id="8" name="TextBox 7"/>
          <p:cNvSpPr txBox="1"/>
          <p:nvPr/>
        </p:nvSpPr>
        <p:spPr>
          <a:xfrm>
            <a:off x="5029200" y="1280160"/>
            <a:ext cx="2194560" cy="1234440"/>
          </a:xfrm>
          <a:prstGeom prst="rect">
            <a:avLst/>
          </a:prstGeom>
          <a:noFill/>
        </p:spPr>
        <p:txBody>
          <a:bodyPr wrap="square" lIns="0">
            <a:spAutoFit/>
          </a:bodyPr>
          <a:lstStyle/>
          <a:p>
            <a:pPr algn="ctr">
              <a:defRPr b="1" sz="1200">
                <a:solidFill>
                  <a:srgbClr val="0F172A"/>
                </a:solidFill>
                <a:latin typeface="Arial"/>
              </a:defRPr>
            </a:pPr>
            <a:r>
              <a:t>Stage 4</a:t>
            </a:r>
          </a:p>
          <a:p>
            <a:pPr algn="ctr">
              <a:defRPr b="1" sz="950">
                <a:solidFill>
                  <a:srgbClr val="7E22CE"/>
                </a:solidFill>
                <a:latin typeface="Arial"/>
              </a:defRPr>
            </a:pPr>
            <a:r>
              <a:t>Dynamic Fair-Share Pricing</a:t>
            </a:r>
          </a:p>
          <a:p>
            <a:pPr algn="ctr">
              <a:defRPr sz="850">
                <a:solidFill>
                  <a:srgbClr val="64748B"/>
                </a:solidFill>
                <a:latin typeface="Arial"/>
              </a:defRPr>
            </a:pPr>
            <a:r>
              <a:t>Artisan dictates asking price; algorithmic 95% direct payout lock.</a:t>
            </a:r>
          </a:p>
        </p:txBody>
      </p:sp>
      <p:sp>
        <p:nvSpPr>
          <p:cNvPr id="9" name="TextBox 8"/>
          <p:cNvSpPr txBox="1"/>
          <p:nvPr/>
        </p:nvSpPr>
        <p:spPr>
          <a:xfrm>
            <a:off x="8595360" y="1280160"/>
            <a:ext cx="2194560" cy="1234440"/>
          </a:xfrm>
          <a:prstGeom prst="rect">
            <a:avLst/>
          </a:prstGeom>
          <a:noFill/>
        </p:spPr>
        <p:txBody>
          <a:bodyPr wrap="square" lIns="0">
            <a:spAutoFit/>
          </a:bodyPr>
          <a:lstStyle/>
          <a:p>
            <a:pPr algn="ctr">
              <a:defRPr b="1" sz="1200">
                <a:solidFill>
                  <a:srgbClr val="0F172A"/>
                </a:solidFill>
                <a:latin typeface="Arial"/>
              </a:defRPr>
            </a:pPr>
            <a:r>
              <a:t>Stage 6</a:t>
            </a:r>
          </a:p>
          <a:p>
            <a:pPr algn="ctr">
              <a:defRPr b="1" sz="950">
                <a:solidFill>
                  <a:srgbClr val="7E22CE"/>
                </a:solidFill>
                <a:latin typeface="Arial"/>
              </a:defRPr>
            </a:pPr>
            <a:r>
              <a:t>Continuous Scaling &amp; Welfare</a:t>
            </a:r>
          </a:p>
          <a:p>
            <a:pPr algn="ctr">
              <a:defRPr sz="850">
                <a:solidFill>
                  <a:srgbClr val="64748B"/>
                </a:solidFill>
                <a:latin typeface="Arial"/>
              </a:defRPr>
            </a:pPr>
            <a:r>
              <a:t>Direct PM Vishwakarma linkage, ONDC Beckn network synchronization.</a:t>
            </a:r>
          </a:p>
        </p:txBody>
      </p:sp>
      <p:sp>
        <p:nvSpPr>
          <p:cNvPr id="10" name="TextBox 9"/>
          <p:cNvSpPr txBox="1"/>
          <p:nvPr/>
        </p:nvSpPr>
        <p:spPr>
          <a:xfrm>
            <a:off x="640080" y="4892040"/>
            <a:ext cx="2194560" cy="1234440"/>
          </a:xfrm>
          <a:prstGeom prst="rect">
            <a:avLst/>
          </a:prstGeom>
          <a:noFill/>
        </p:spPr>
        <p:txBody>
          <a:bodyPr wrap="square" lIns="0">
            <a:spAutoFit/>
          </a:bodyPr>
          <a:lstStyle/>
          <a:p>
            <a:pPr algn="ctr">
              <a:defRPr b="1" sz="1200">
                <a:solidFill>
                  <a:srgbClr val="0F172A"/>
                </a:solidFill>
                <a:latin typeface="Arial"/>
              </a:defRPr>
            </a:pPr>
            <a:r>
              <a:t>Stage 1</a:t>
            </a:r>
          </a:p>
          <a:p>
            <a:pPr algn="ctr">
              <a:defRPr b="1" sz="950">
                <a:solidFill>
                  <a:srgbClr val="7E22CE"/>
                </a:solidFill>
                <a:latin typeface="Arial"/>
              </a:defRPr>
            </a:pPr>
            <a:r>
              <a:t>Cohort Ingestion &amp; Onboarding</a:t>
            </a:r>
          </a:p>
          <a:p>
            <a:pPr algn="ctr">
              <a:defRPr sz="850">
                <a:solidFill>
                  <a:srgbClr val="64748B"/>
                </a:solidFill>
                <a:latin typeface="Arial"/>
              </a:defRPr>
            </a:pPr>
            <a:r>
              <a:t>Zero-literacy Hindi &amp; English voice recording via Web Speech API.</a:t>
            </a:r>
          </a:p>
        </p:txBody>
      </p:sp>
      <p:sp>
        <p:nvSpPr>
          <p:cNvPr id="11" name="TextBox 10"/>
          <p:cNvSpPr txBox="1"/>
          <p:nvPr/>
        </p:nvSpPr>
        <p:spPr>
          <a:xfrm>
            <a:off x="4206240" y="4892040"/>
            <a:ext cx="2194560" cy="1234440"/>
          </a:xfrm>
          <a:prstGeom prst="rect">
            <a:avLst/>
          </a:prstGeom>
          <a:noFill/>
        </p:spPr>
        <p:txBody>
          <a:bodyPr wrap="square" lIns="0">
            <a:spAutoFit/>
          </a:bodyPr>
          <a:lstStyle/>
          <a:p>
            <a:pPr algn="ctr">
              <a:defRPr b="1" sz="1200">
                <a:solidFill>
                  <a:srgbClr val="0F172A"/>
                </a:solidFill>
                <a:latin typeface="Arial"/>
              </a:defRPr>
            </a:pPr>
            <a:r>
              <a:t>Stage 3</a:t>
            </a:r>
          </a:p>
          <a:p>
            <a:pPr algn="ctr">
              <a:defRPr b="1" sz="950">
                <a:solidFill>
                  <a:srgbClr val="7E22CE"/>
                </a:solidFill>
                <a:latin typeface="Arial"/>
              </a:defRPr>
            </a:pPr>
            <a:r>
              <a:t>GI Authenticity &amp; Provenance</a:t>
            </a:r>
          </a:p>
          <a:p>
            <a:pPr algn="ctr">
              <a:defRPr sz="850">
                <a:solidFill>
                  <a:srgbClr val="64748B"/>
                </a:solidFill>
                <a:latin typeface="Arial"/>
              </a:defRPr>
            </a:pPr>
            <a:r>
              <a:t>Cluster verification, provenance hash &amp; scannable physical QR.</a:t>
            </a:r>
          </a:p>
        </p:txBody>
      </p:sp>
      <p:sp>
        <p:nvSpPr>
          <p:cNvPr id="12" name="TextBox 11"/>
          <p:cNvSpPr txBox="1"/>
          <p:nvPr/>
        </p:nvSpPr>
        <p:spPr>
          <a:xfrm>
            <a:off x="7863839" y="4892040"/>
            <a:ext cx="2194560" cy="1234440"/>
          </a:xfrm>
          <a:prstGeom prst="rect">
            <a:avLst/>
          </a:prstGeom>
          <a:noFill/>
        </p:spPr>
        <p:txBody>
          <a:bodyPr wrap="square" lIns="0">
            <a:spAutoFit/>
          </a:bodyPr>
          <a:lstStyle/>
          <a:p>
            <a:pPr algn="ctr">
              <a:defRPr b="1" sz="1200">
                <a:solidFill>
                  <a:srgbClr val="0F172A"/>
                </a:solidFill>
                <a:latin typeface="Arial"/>
              </a:defRPr>
            </a:pPr>
            <a:r>
              <a:t>Stage 5</a:t>
            </a:r>
          </a:p>
          <a:p>
            <a:pPr algn="ctr">
              <a:defRPr b="1" sz="950">
                <a:solidFill>
                  <a:srgbClr val="7E22CE"/>
                </a:solidFill>
                <a:latin typeface="Arial"/>
              </a:defRPr>
            </a:pPr>
            <a:r>
              <a:t>Direct Consumer Linkage</a:t>
            </a:r>
          </a:p>
          <a:p>
            <a:pPr algn="ctr">
              <a:defRPr sz="850">
                <a:solidFill>
                  <a:srgbClr val="64748B"/>
                </a:solidFill>
                <a:latin typeface="Arial"/>
              </a:defRPr>
            </a:pPr>
            <a:r>
              <a:t>Disintermediates multi-tiered middlemen, routing 95% value directly.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20040"/>
            <a:ext cx="1645920" cy="868680"/>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latin typeface="Georgia"/>
              </a:defRPr>
            </a:pPr>
            <a:r>
              <a:t>SOUL</a:t>
            </a:r>
          </a:p>
          <a:p>
            <a:pPr algn="ctr">
              <a:defRPr b="1" sz="850">
                <a:solidFill>
                  <a:srgbClr val="FFFFFF"/>
                </a:solidFill>
                <a:latin typeface="Arial"/>
              </a:defRPr>
            </a:pPr>
            <a:r>
              <a:t>SIH-S-B1-063</a:t>
            </a:r>
          </a:p>
        </p:txBody>
      </p:sp>
      <p:pic>
        <p:nvPicPr>
          <p:cNvPr id="4" name="Picture 3" descr="Picture_1.png"/>
          <p:cNvPicPr>
            <a:picLocks noChangeAspect="1"/>
          </p:cNvPicPr>
          <p:nvPr/>
        </p:nvPicPr>
        <p:blipFill>
          <a:blip r:embed="rId2"/>
          <a:stretch>
            <a:fillRect/>
          </a:stretch>
        </p:blipFill>
        <p:spPr>
          <a:xfrm>
            <a:off x="9875520" y="292608"/>
            <a:ext cx="1645920" cy="777173"/>
          </a:xfrm>
          <a:prstGeom prst="rect">
            <a:avLst/>
          </a:prstGeom>
        </p:spPr>
      </p:pic>
      <p:sp>
        <p:nvSpPr>
          <p:cNvPr id="5" name="TextBox 4"/>
          <p:cNvSpPr txBox="1"/>
          <p:nvPr/>
        </p:nvSpPr>
        <p:spPr>
          <a:xfrm>
            <a:off x="2468880" y="365760"/>
            <a:ext cx="7223760" cy="1005840"/>
          </a:xfrm>
          <a:prstGeom prst="rect">
            <a:avLst/>
          </a:prstGeom>
          <a:noFill/>
        </p:spPr>
        <p:txBody>
          <a:bodyPr wrap="square" tIns="0">
            <a:spAutoFit/>
          </a:bodyPr>
          <a:lstStyle/>
          <a:p>
            <a:pPr algn="ctr">
              <a:defRPr b="1" sz="2400">
                <a:solidFill>
                  <a:srgbClr val="0F172A"/>
                </a:solidFill>
                <a:latin typeface="Georgia"/>
              </a:defRPr>
            </a:pPr>
            <a:r>
              <a:t>TECHNICAL APPROACH</a:t>
            </a:r>
          </a:p>
          <a:p>
            <a:pPr algn="ctr">
              <a:spcBef>
                <a:spcPts val="300"/>
              </a:spcBef>
              <a:defRPr b="1" sz="1350">
                <a:solidFill>
                  <a:srgbClr val="7E22CE"/>
                </a:solidFill>
                <a:latin typeface="Arial"/>
              </a:defRPr>
            </a:pPr>
            <a:r>
              <a:t>CONNECTING THE ARTISAN NETWORK!!</a:t>
            </a:r>
          </a:p>
        </p:txBody>
      </p:sp>
      <p:sp>
        <p:nvSpPr>
          <p:cNvPr id="6" name="TextBox 5"/>
          <p:cNvSpPr txBox="1"/>
          <p:nvPr/>
        </p:nvSpPr>
        <p:spPr>
          <a:xfrm>
            <a:off x="8412480" y="1170432"/>
            <a:ext cx="3108960" cy="320040"/>
          </a:xfrm>
          <a:prstGeom prst="rect">
            <a:avLst/>
          </a:prstGeom>
          <a:noFill/>
        </p:spPr>
        <p:txBody>
          <a:bodyPr wrap="none">
            <a:spAutoFit/>
          </a:bodyPr>
          <a:lstStyle/>
          <a:p>
            <a:pPr algn="r">
              <a:defRPr sz="1050">
                <a:solidFill>
                  <a:srgbClr val="7E22CE"/>
                </a:solidFill>
                <a:latin typeface="Arial"/>
              </a:defRPr>
            </a:pPr>
            <a:r>
              <a:t>https://kalasetu.gov.in</a:t>
            </a:r>
          </a:p>
        </p:txBody>
      </p:sp>
      <p:pic>
        <p:nvPicPr>
          <p:cNvPr id="7" name="Picture 6" descr="mockup_tab1.png"/>
          <p:cNvPicPr>
            <a:picLocks noChangeAspect="1"/>
          </p:cNvPicPr>
          <p:nvPr/>
        </p:nvPicPr>
        <p:blipFill>
          <a:blip r:embed="rId3"/>
          <a:stretch>
            <a:fillRect/>
          </a:stretch>
        </p:blipFill>
        <p:spPr>
          <a:xfrm>
            <a:off x="731520" y="1600200"/>
            <a:ext cx="3383280" cy="2189181"/>
          </a:xfrm>
          <a:prstGeom prst="rect">
            <a:avLst/>
          </a:prstGeom>
        </p:spPr>
      </p:pic>
      <p:sp>
        <p:nvSpPr>
          <p:cNvPr id="8" name="Rounded Rectangle 7"/>
          <p:cNvSpPr/>
          <p:nvPr/>
        </p:nvSpPr>
        <p:spPr>
          <a:xfrm>
            <a:off x="731520" y="4069080"/>
            <a:ext cx="3383280" cy="228600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t" wrap="square" lIns="201168" rIns="201168" tIns="182880"/>
          <a:lstStyle/>
          <a:p>
            <a:pPr algn="l"/>
            <a:r>
              <a:rPr b="1" sz="1000">
                <a:solidFill>
                  <a:srgbClr val="0F172A"/>
                </a:solidFill>
                <a:latin typeface="Arial"/>
              </a:rPr>
              <a:t>Registration &amp; Cataloging: </a:t>
            </a:r>
            <a:r>
              <a:rPr sz="950">
                <a:solidFill>
                  <a:srgbClr val="334155"/>
                </a:solidFill>
                <a:latin typeface="Arial"/>
              </a:rPr>
              <a:t>Registers traditional craftspersons via zero-friction vernacular voice. AI structures specifications, dimensions, and materials in &lt;2s, eliminating digital literacy barriers.</a:t>
            </a:r>
          </a:p>
        </p:txBody>
      </p:sp>
      <p:pic>
        <p:nvPicPr>
          <p:cNvPr id="9" name="Picture 8" descr="mockup_tab2.png"/>
          <p:cNvPicPr>
            <a:picLocks noChangeAspect="1"/>
          </p:cNvPicPr>
          <p:nvPr/>
        </p:nvPicPr>
        <p:blipFill>
          <a:blip r:embed="rId4"/>
          <a:stretch>
            <a:fillRect/>
          </a:stretch>
        </p:blipFill>
        <p:spPr>
          <a:xfrm>
            <a:off x="4434840" y="1600200"/>
            <a:ext cx="3383280" cy="2189181"/>
          </a:xfrm>
          <a:prstGeom prst="rect">
            <a:avLst/>
          </a:prstGeom>
        </p:spPr>
      </p:pic>
      <p:sp>
        <p:nvSpPr>
          <p:cNvPr id="10" name="Rounded Rectangle 9"/>
          <p:cNvSpPr/>
          <p:nvPr/>
        </p:nvSpPr>
        <p:spPr>
          <a:xfrm>
            <a:off x="4434840" y="4069080"/>
            <a:ext cx="3383280" cy="228600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t" wrap="square" lIns="201168" rIns="201168" tIns="182880"/>
          <a:lstStyle/>
          <a:p>
            <a:pPr algn="l"/>
            <a:r>
              <a:rPr b="1" sz="1000">
                <a:solidFill>
                  <a:srgbClr val="0F172A"/>
                </a:solidFill>
                <a:latin typeface="Arial"/>
              </a:rPr>
              <a:t>Monitoring &amp; Fair Share: </a:t>
            </a:r>
            <a:r>
              <a:rPr sz="950">
                <a:solidFill>
                  <a:srgbClr val="334155"/>
                </a:solidFill>
                <a:latin typeface="Arial"/>
              </a:rPr>
              <a:t>Tracks real-time sales, order settlements, and delivery milestones. Enforces transparent 95% direct artisan payout while removing 60-80% exploitative middleman commission tiers.</a:t>
            </a:r>
          </a:p>
        </p:txBody>
      </p:sp>
      <p:pic>
        <p:nvPicPr>
          <p:cNvPr id="11" name="Picture 10" descr="mockup_tab3.png"/>
          <p:cNvPicPr>
            <a:picLocks noChangeAspect="1"/>
          </p:cNvPicPr>
          <p:nvPr/>
        </p:nvPicPr>
        <p:blipFill>
          <a:blip r:embed="rId5"/>
          <a:stretch>
            <a:fillRect/>
          </a:stretch>
        </p:blipFill>
        <p:spPr>
          <a:xfrm>
            <a:off x="8138160" y="1600200"/>
            <a:ext cx="3383280" cy="2189181"/>
          </a:xfrm>
          <a:prstGeom prst="rect">
            <a:avLst/>
          </a:prstGeom>
        </p:spPr>
      </p:pic>
      <p:sp>
        <p:nvSpPr>
          <p:cNvPr id="12" name="Rounded Rectangle 11"/>
          <p:cNvSpPr/>
          <p:nvPr/>
        </p:nvSpPr>
        <p:spPr>
          <a:xfrm>
            <a:off x="8138160" y="4069080"/>
            <a:ext cx="3383280" cy="228600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t" wrap="square" lIns="201168" rIns="201168" tIns="182880"/>
          <a:lstStyle/>
          <a:p>
            <a:pPr algn="l"/>
            <a:r>
              <a:rPr b="1" sz="1000">
                <a:solidFill>
                  <a:srgbClr val="0F172A"/>
                </a:solidFill>
                <a:latin typeface="Arial"/>
              </a:rPr>
              <a:t>Marketplace &amp; GI Trust: </a:t>
            </a:r>
            <a:r>
              <a:rPr sz="950">
                <a:solidFill>
                  <a:srgbClr val="334155"/>
                </a:solidFill>
                <a:latin typeface="Arial"/>
              </a:rPr>
              <a:t>Enables conscious buyers to discover authentic heritage crafts directly from verified maker clusters, backed by scannable QR certificates of Geographical Indication authenticity.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20040"/>
            <a:ext cx="1645920" cy="868680"/>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latin typeface="Georgia"/>
              </a:defRPr>
            </a:pPr>
            <a:r>
              <a:t>SOUL</a:t>
            </a:r>
          </a:p>
          <a:p>
            <a:pPr algn="ctr">
              <a:defRPr b="1" sz="850">
                <a:solidFill>
                  <a:srgbClr val="FFFFFF"/>
                </a:solidFill>
                <a:latin typeface="Arial"/>
              </a:defRPr>
            </a:pPr>
            <a:r>
              <a:t>SIH-S-B1-063</a:t>
            </a:r>
          </a:p>
        </p:txBody>
      </p:sp>
      <p:pic>
        <p:nvPicPr>
          <p:cNvPr id="4" name="Picture 3" descr="Picture_1.png"/>
          <p:cNvPicPr>
            <a:picLocks noChangeAspect="1"/>
          </p:cNvPicPr>
          <p:nvPr/>
        </p:nvPicPr>
        <p:blipFill>
          <a:blip r:embed="rId2"/>
          <a:stretch>
            <a:fillRect/>
          </a:stretch>
        </p:blipFill>
        <p:spPr>
          <a:xfrm>
            <a:off x="9875520" y="292608"/>
            <a:ext cx="1645920" cy="777173"/>
          </a:xfrm>
          <a:prstGeom prst="rect">
            <a:avLst/>
          </a:prstGeom>
        </p:spPr>
      </p:pic>
      <p:sp>
        <p:nvSpPr>
          <p:cNvPr id="5" name="TextBox 4"/>
          <p:cNvSpPr txBox="1"/>
          <p:nvPr/>
        </p:nvSpPr>
        <p:spPr>
          <a:xfrm>
            <a:off x="2468880" y="365760"/>
            <a:ext cx="7223760" cy="1005840"/>
          </a:xfrm>
          <a:prstGeom prst="rect">
            <a:avLst/>
          </a:prstGeom>
          <a:noFill/>
        </p:spPr>
        <p:txBody>
          <a:bodyPr wrap="square" tIns="0">
            <a:spAutoFit/>
          </a:bodyPr>
          <a:lstStyle/>
          <a:p>
            <a:pPr algn="ctr">
              <a:defRPr b="1" sz="2400">
                <a:solidFill>
                  <a:srgbClr val="0F172A"/>
                </a:solidFill>
                <a:latin typeface="Georgia"/>
              </a:defRPr>
            </a:pPr>
            <a:r>
              <a:t>IMPACT AND BENEFITS</a:t>
            </a:r>
          </a:p>
        </p:txBody>
      </p:sp>
      <p:sp>
        <p:nvSpPr>
          <p:cNvPr id="6" name="Rounded Rectangle 5"/>
          <p:cNvSpPr/>
          <p:nvPr/>
        </p:nvSpPr>
        <p:spPr>
          <a:xfrm>
            <a:off x="731520" y="1554480"/>
            <a:ext cx="2423160" cy="987552"/>
          </a:xfrm>
          <a:prstGeom prst="round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a:lstStyle/>
          <a:p>
            <a:pPr algn="ctr">
              <a:defRPr b="1" sz="850">
                <a:solidFill>
                  <a:srgbClr val="3B0764"/>
                </a:solidFill>
                <a:latin typeface="Arial"/>
              </a:defRPr>
            </a:pPr>
            <a:r>
              <a:t>Data-Driven Curriculum Alignment:</a:t>
            </a:r>
          </a:p>
          <a:p>
            <a:pPr algn="ctr">
              <a:spcBef>
                <a:spcPts val="200"/>
              </a:spcBef>
              <a:defRPr sz="780">
                <a:solidFill>
                  <a:srgbClr val="0F172A"/>
                </a:solidFill>
                <a:latin typeface="Arial"/>
              </a:defRPr>
            </a:pPr>
            <a:r>
              <a:t>Connects traditional craft cataloging directly to real-time national market needs.</a:t>
            </a:r>
          </a:p>
        </p:txBody>
      </p:sp>
      <p:sp>
        <p:nvSpPr>
          <p:cNvPr id="7" name="Rounded Rectangle 6"/>
          <p:cNvSpPr/>
          <p:nvPr/>
        </p:nvSpPr>
        <p:spPr>
          <a:xfrm>
            <a:off x="731520" y="2697480"/>
            <a:ext cx="2423160" cy="987552"/>
          </a:xfrm>
          <a:prstGeom prst="round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a:lstStyle/>
          <a:p>
            <a:pPr algn="ctr">
              <a:defRPr b="1" sz="850">
                <a:solidFill>
                  <a:srgbClr val="3B0764"/>
                </a:solidFill>
                <a:latin typeface="Arial"/>
              </a:defRPr>
            </a:pPr>
            <a:r>
              <a:t>Proactive Gap Resolution:</a:t>
            </a:r>
          </a:p>
          <a:p>
            <a:pPr algn="ctr">
              <a:spcBef>
                <a:spcPts val="200"/>
              </a:spcBef>
              <a:defRPr sz="780">
                <a:solidFill>
                  <a:srgbClr val="0F172A"/>
                </a:solidFill>
                <a:latin typeface="Arial"/>
              </a:defRPr>
            </a:pPr>
            <a:r>
              <a:t>Fixes pricing and digital discovery deficits during onboarding, not post-sale.</a:t>
            </a:r>
          </a:p>
        </p:txBody>
      </p:sp>
      <p:sp>
        <p:nvSpPr>
          <p:cNvPr id="8" name="Rounded Rectangle 7"/>
          <p:cNvSpPr/>
          <p:nvPr/>
        </p:nvSpPr>
        <p:spPr>
          <a:xfrm>
            <a:off x="731520" y="3840480"/>
            <a:ext cx="2423160" cy="987552"/>
          </a:xfrm>
          <a:prstGeom prst="round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a:lstStyle/>
          <a:p>
            <a:pPr algn="ctr">
              <a:defRPr b="1" sz="850">
                <a:solidFill>
                  <a:srgbClr val="3B0764"/>
                </a:solidFill>
                <a:latin typeface="Arial"/>
              </a:defRPr>
            </a:pPr>
            <a:r>
              <a:t>CLOSED-LOOP SYSTEM INTEGRATION:</a:t>
            </a:r>
          </a:p>
          <a:p>
            <a:pPr algn="ctr">
              <a:spcBef>
                <a:spcPts val="200"/>
              </a:spcBef>
              <a:defRPr sz="780">
                <a:solidFill>
                  <a:srgbClr val="0F172A"/>
                </a:solidFill>
                <a:latin typeface="Arial"/>
              </a:defRPr>
            </a:pPr>
            <a:r>
              <a:t>Uses consumer buying signals and reviews to refine artisan catalog suggestions continuously.</a:t>
            </a:r>
          </a:p>
        </p:txBody>
      </p:sp>
      <p:sp>
        <p:nvSpPr>
          <p:cNvPr id="9" name="Rounded Rectangle 8"/>
          <p:cNvSpPr/>
          <p:nvPr/>
        </p:nvSpPr>
        <p:spPr>
          <a:xfrm>
            <a:off x="731520" y="4983480"/>
            <a:ext cx="2423160" cy="987552"/>
          </a:xfrm>
          <a:prstGeom prst="round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a:lstStyle/>
          <a:p>
            <a:pPr algn="ctr">
              <a:defRPr b="1" sz="850">
                <a:solidFill>
                  <a:srgbClr val="3B0764"/>
                </a:solidFill>
                <a:latin typeface="Arial"/>
              </a:defRPr>
            </a:pPr>
            <a:r>
              <a:t>Elevated Institutional Credibility:</a:t>
            </a:r>
          </a:p>
          <a:p>
            <a:pPr algn="ctr">
              <a:spcBef>
                <a:spcPts val="200"/>
              </a:spcBef>
              <a:defRPr sz="780">
                <a:solidFill>
                  <a:srgbClr val="0F172A"/>
                </a:solidFill>
                <a:latin typeface="Arial"/>
              </a:defRPr>
            </a:pPr>
            <a:r>
              <a:t>Builds trust through verifiable Geographical Indication (GI) provenance and physical QR seals.</a:t>
            </a:r>
          </a:p>
        </p:txBody>
      </p:sp>
      <p:sp>
        <p:nvSpPr>
          <p:cNvPr id="10" name="Rounded Rectangle 9"/>
          <p:cNvSpPr/>
          <p:nvPr/>
        </p:nvSpPr>
        <p:spPr>
          <a:xfrm>
            <a:off x="3383280" y="1554480"/>
            <a:ext cx="2423160" cy="987552"/>
          </a:xfrm>
          <a:prstGeom prst="round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a:lstStyle/>
          <a:p>
            <a:pPr algn="ctr">
              <a:defRPr b="1" sz="850">
                <a:solidFill>
                  <a:srgbClr val="3B0764"/>
                </a:solidFill>
                <a:latin typeface="Arial"/>
              </a:defRPr>
            </a:pPr>
            <a:r>
              <a:t>Accelerated Artisan Market Placement:</a:t>
            </a:r>
          </a:p>
          <a:p>
            <a:pPr algn="ctr">
              <a:spcBef>
                <a:spcPts val="200"/>
              </a:spcBef>
              <a:defRPr sz="780">
                <a:solidFill>
                  <a:srgbClr val="0F172A"/>
                </a:solidFill>
                <a:latin typeface="Arial"/>
              </a:defRPr>
            </a:pPr>
            <a:r>
              <a:t>Rural craftspeople secure direct national buyer orders significantly faster.</a:t>
            </a:r>
          </a:p>
        </p:txBody>
      </p:sp>
      <p:sp>
        <p:nvSpPr>
          <p:cNvPr id="11" name="Rounded Rectangle 10"/>
          <p:cNvSpPr/>
          <p:nvPr/>
        </p:nvSpPr>
        <p:spPr>
          <a:xfrm>
            <a:off x="3383280" y="2697480"/>
            <a:ext cx="2423160" cy="987552"/>
          </a:xfrm>
          <a:prstGeom prst="round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a:lstStyle/>
          <a:p>
            <a:pPr algn="ctr">
              <a:defRPr b="1" sz="850">
                <a:solidFill>
                  <a:srgbClr val="3B0764"/>
                </a:solidFill>
                <a:latin typeface="Arial"/>
              </a:defRPr>
            </a:pPr>
            <a:r>
              <a:t>Reduced Intermediary Leakage:</a:t>
            </a:r>
          </a:p>
          <a:p>
            <a:pPr algn="ctr">
              <a:spcBef>
                <a:spcPts val="200"/>
              </a:spcBef>
              <a:defRPr sz="780">
                <a:solidFill>
                  <a:srgbClr val="0F172A"/>
                </a:solidFill>
                <a:latin typeface="Arial"/>
              </a:defRPr>
            </a:pPr>
            <a:r>
              <a:t>Eliminates multi-tiered middlemen, returning 95% of retail price directly to the maker.</a:t>
            </a:r>
          </a:p>
        </p:txBody>
      </p:sp>
      <p:sp>
        <p:nvSpPr>
          <p:cNvPr id="12" name="Rounded Rectangle 11"/>
          <p:cNvSpPr/>
          <p:nvPr/>
        </p:nvSpPr>
        <p:spPr>
          <a:xfrm>
            <a:off x="3383280" y="3840480"/>
            <a:ext cx="2423160" cy="987552"/>
          </a:xfrm>
          <a:prstGeom prst="round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a:lstStyle/>
          <a:p>
            <a:pPr algn="ctr">
              <a:defRPr b="1" sz="850">
                <a:solidFill>
                  <a:srgbClr val="3B0764"/>
                </a:solidFill>
                <a:latin typeface="Arial"/>
              </a:defRPr>
            </a:pPr>
            <a:r>
              <a:t>Agile Catalog Optimization:</a:t>
            </a:r>
          </a:p>
          <a:p>
            <a:pPr algn="ctr">
              <a:spcBef>
                <a:spcPts val="200"/>
              </a:spcBef>
              <a:defRPr sz="780">
                <a:solidFill>
                  <a:srgbClr val="0F172A"/>
                </a:solidFill>
                <a:latin typeface="Arial"/>
              </a:defRPr>
            </a:pPr>
            <a:r>
              <a:t>Artisans instantly refresh product listings using natural Hindi and regional dialects.</a:t>
            </a:r>
          </a:p>
        </p:txBody>
      </p:sp>
      <p:sp>
        <p:nvSpPr>
          <p:cNvPr id="13" name="Rounded Rectangle 12"/>
          <p:cNvSpPr/>
          <p:nvPr/>
        </p:nvSpPr>
        <p:spPr>
          <a:xfrm>
            <a:off x="3383280" y="4983480"/>
            <a:ext cx="2423160" cy="987552"/>
          </a:xfrm>
          <a:prstGeom prst="round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a:lstStyle/>
          <a:p>
            <a:pPr algn="ctr">
              <a:defRPr b="1" sz="850">
                <a:solidFill>
                  <a:srgbClr val="3B0764"/>
                </a:solidFill>
                <a:latin typeface="Arial"/>
              </a:defRPr>
            </a:pPr>
            <a:r>
              <a:t>Enhanced Dignity &amp; Direct Visibility:</a:t>
            </a:r>
          </a:p>
          <a:p>
            <a:pPr algn="ctr">
              <a:spcBef>
                <a:spcPts val="200"/>
              </a:spcBef>
              <a:defRPr sz="780">
                <a:solidFill>
                  <a:srgbClr val="0F172A"/>
                </a:solidFill>
                <a:latin typeface="Arial"/>
              </a:defRPr>
            </a:pPr>
            <a:r>
              <a:t>Artisan Story pages build emotional human-to-human connection between buyer and maker.</a:t>
            </a:r>
          </a:p>
        </p:txBody>
      </p:sp>
      <p:sp>
        <p:nvSpPr>
          <p:cNvPr id="14" name="Rectangle 13"/>
          <p:cNvSpPr/>
          <p:nvPr/>
        </p:nvSpPr>
        <p:spPr>
          <a:xfrm>
            <a:off x="6035040" y="1554480"/>
            <a:ext cx="18288" cy="4663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pact_chart.png"/>
          <p:cNvPicPr>
            <a:picLocks noChangeAspect="1"/>
          </p:cNvPicPr>
          <p:nvPr/>
        </p:nvPicPr>
        <p:blipFill>
          <a:blip r:embed="rId3"/>
          <a:stretch>
            <a:fillRect/>
          </a:stretch>
        </p:blipFill>
        <p:spPr>
          <a:xfrm>
            <a:off x="6217920" y="1554480"/>
            <a:ext cx="5303520" cy="379201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20040"/>
            <a:ext cx="1645920" cy="868680"/>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latin typeface="Georgia"/>
              </a:defRPr>
            </a:pPr>
            <a:r>
              <a:t>SOUL</a:t>
            </a:r>
          </a:p>
          <a:p>
            <a:pPr algn="ctr">
              <a:defRPr b="1" sz="850">
                <a:solidFill>
                  <a:srgbClr val="FFFFFF"/>
                </a:solidFill>
                <a:latin typeface="Arial"/>
              </a:defRPr>
            </a:pPr>
            <a:r>
              <a:t>SIH-S-B1-063</a:t>
            </a:r>
          </a:p>
        </p:txBody>
      </p:sp>
      <p:pic>
        <p:nvPicPr>
          <p:cNvPr id="4" name="Picture 3" descr="Picture_1.png"/>
          <p:cNvPicPr>
            <a:picLocks noChangeAspect="1"/>
          </p:cNvPicPr>
          <p:nvPr/>
        </p:nvPicPr>
        <p:blipFill>
          <a:blip r:embed="rId2"/>
          <a:stretch>
            <a:fillRect/>
          </a:stretch>
        </p:blipFill>
        <p:spPr>
          <a:xfrm>
            <a:off x="9875520" y="292608"/>
            <a:ext cx="1645920" cy="777173"/>
          </a:xfrm>
          <a:prstGeom prst="rect">
            <a:avLst/>
          </a:prstGeom>
        </p:spPr>
      </p:pic>
      <p:sp>
        <p:nvSpPr>
          <p:cNvPr id="5" name="TextBox 4"/>
          <p:cNvSpPr txBox="1"/>
          <p:nvPr/>
        </p:nvSpPr>
        <p:spPr>
          <a:xfrm>
            <a:off x="2468880" y="365760"/>
            <a:ext cx="7223760" cy="1005840"/>
          </a:xfrm>
          <a:prstGeom prst="rect">
            <a:avLst/>
          </a:prstGeom>
          <a:noFill/>
        </p:spPr>
        <p:txBody>
          <a:bodyPr wrap="square" tIns="0">
            <a:spAutoFit/>
          </a:bodyPr>
          <a:lstStyle/>
          <a:p>
            <a:pPr algn="ctr">
              <a:defRPr b="1" sz="2400">
                <a:solidFill>
                  <a:srgbClr val="0F172A"/>
                </a:solidFill>
                <a:latin typeface="Georgia"/>
              </a:defRPr>
            </a:pPr>
            <a:r>
              <a:t>FEASIBILITY AND VIABILITY</a:t>
            </a:r>
          </a:p>
        </p:txBody>
      </p:sp>
      <p:sp>
        <p:nvSpPr>
          <p:cNvPr id="6" name="TextBox 5"/>
          <p:cNvSpPr txBox="1"/>
          <p:nvPr/>
        </p:nvSpPr>
        <p:spPr>
          <a:xfrm>
            <a:off x="731520" y="1463040"/>
            <a:ext cx="5029200" cy="365760"/>
          </a:xfrm>
          <a:prstGeom prst="rect">
            <a:avLst/>
          </a:prstGeom>
          <a:noFill/>
        </p:spPr>
        <p:txBody>
          <a:bodyPr wrap="none">
            <a:spAutoFit/>
          </a:bodyPr>
          <a:lstStyle/>
          <a:p>
            <a:pPr>
              <a:defRPr b="1" sz="1300">
                <a:solidFill>
                  <a:srgbClr val="1D3557"/>
                </a:solidFill>
                <a:latin typeface="Georgia"/>
              </a:defRPr>
            </a:pPr>
            <a:r>
              <a:t>FEASIBILITY</a:t>
            </a:r>
          </a:p>
        </p:txBody>
      </p:sp>
      <p:sp>
        <p:nvSpPr>
          <p:cNvPr id="7" name="Rounded Rectangle 6"/>
          <p:cNvSpPr/>
          <p:nvPr/>
        </p:nvSpPr>
        <p:spPr>
          <a:xfrm>
            <a:off x="731520" y="1920240"/>
            <a:ext cx="5029200" cy="12618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8" name="Rounded Rectangle 7"/>
          <p:cNvSpPr/>
          <p:nvPr/>
        </p:nvSpPr>
        <p:spPr>
          <a:xfrm>
            <a:off x="868680" y="2240280"/>
            <a:ext cx="502920" cy="502920"/>
          </a:xfrm>
          <a:prstGeom prst="roundRect">
            <a:avLst/>
          </a:prstGeom>
          <a:solidFill>
            <a:srgbClr val="FFFFFF"/>
          </a:solidFill>
          <a:ln w="1905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7E22CE"/>
                </a:solidFill>
                <a:latin typeface="Segoe UI Symbol"/>
              </a:defRPr>
            </a:pPr>
            <a:r>
              <a:t>⚙️</a:t>
            </a:r>
          </a:p>
        </p:txBody>
      </p:sp>
      <p:sp>
        <p:nvSpPr>
          <p:cNvPr id="9" name="TextBox 8"/>
          <p:cNvSpPr txBox="1"/>
          <p:nvPr/>
        </p:nvSpPr>
        <p:spPr>
          <a:xfrm>
            <a:off x="1508760" y="2066544"/>
            <a:ext cx="4114800" cy="1005840"/>
          </a:xfrm>
          <a:prstGeom prst="rect">
            <a:avLst/>
          </a:prstGeom>
          <a:noFill/>
        </p:spPr>
        <p:txBody>
          <a:bodyPr wrap="square" lIns="0" rIns="0" tIns="0" bIns="0">
            <a:spAutoFit/>
          </a:bodyPr>
          <a:lstStyle/>
          <a:p>
            <a:pPr>
              <a:defRPr b="1" sz="1150">
                <a:solidFill>
                  <a:srgbClr val="0F172A"/>
                </a:solidFill>
                <a:latin typeface="Segoe UI"/>
              </a:defRPr>
            </a:pPr>
            <a:r>
              <a:t>Technical</a:t>
            </a:r>
          </a:p>
          <a:p>
            <a:pPr>
              <a:spcBef>
                <a:spcPts val="300"/>
              </a:spcBef>
              <a:defRPr sz="880">
                <a:solidFill>
                  <a:srgbClr val="334155"/>
                </a:solidFill>
                <a:latin typeface="Arial"/>
              </a:defRPr>
            </a:pPr>
            <a:r>
              <a:t>Built on proven components — Web Speech API, Google Gemini 3.7 Flash structured JSON schema, Firebase NoSQL Firestore, and VitePWA. No unproven tech required.</a:t>
            </a:r>
          </a:p>
        </p:txBody>
      </p:sp>
      <p:sp>
        <p:nvSpPr>
          <p:cNvPr id="10" name="Rounded Rectangle 9"/>
          <p:cNvSpPr/>
          <p:nvPr/>
        </p:nvSpPr>
        <p:spPr>
          <a:xfrm>
            <a:off x="731520" y="3337560"/>
            <a:ext cx="5029200" cy="12618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1" name="Rounded Rectangle 10"/>
          <p:cNvSpPr/>
          <p:nvPr/>
        </p:nvSpPr>
        <p:spPr>
          <a:xfrm>
            <a:off x="868680" y="3657600"/>
            <a:ext cx="502920" cy="502920"/>
          </a:xfrm>
          <a:prstGeom prst="roundRect">
            <a:avLst/>
          </a:prstGeom>
          <a:solidFill>
            <a:srgbClr val="FFFFFF"/>
          </a:solidFill>
          <a:ln w="1905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7E22CE"/>
                </a:solidFill>
                <a:latin typeface="Segoe UI Symbol"/>
              </a:defRPr>
            </a:pPr>
            <a:r>
              <a:t>👥</a:t>
            </a:r>
          </a:p>
        </p:txBody>
      </p:sp>
      <p:sp>
        <p:nvSpPr>
          <p:cNvPr id="12" name="TextBox 11"/>
          <p:cNvSpPr txBox="1"/>
          <p:nvPr/>
        </p:nvSpPr>
        <p:spPr>
          <a:xfrm>
            <a:off x="1508760" y="3483864"/>
            <a:ext cx="4114800" cy="1005840"/>
          </a:xfrm>
          <a:prstGeom prst="rect">
            <a:avLst/>
          </a:prstGeom>
          <a:noFill/>
        </p:spPr>
        <p:txBody>
          <a:bodyPr wrap="square" lIns="0" rIns="0" tIns="0" bIns="0">
            <a:spAutoFit/>
          </a:bodyPr>
          <a:lstStyle/>
          <a:p>
            <a:pPr>
              <a:defRPr b="1" sz="1150">
                <a:solidFill>
                  <a:srgbClr val="0F172A"/>
                </a:solidFill>
                <a:latin typeface="Segoe UI"/>
              </a:defRPr>
            </a:pPr>
            <a:r>
              <a:t>Operational</a:t>
            </a:r>
          </a:p>
          <a:p>
            <a:pPr>
              <a:spcBef>
                <a:spcPts val="300"/>
              </a:spcBef>
              <a:defRPr sz="880">
                <a:solidFill>
                  <a:srgbClr val="334155"/>
                </a:solidFill>
                <a:latin typeface="Arial"/>
              </a:defRPr>
            </a:pPr>
            <a:r>
              <a:t>Rollout starts as recognized craft cluster pilots (Kondapalli, Bastar, Channapatna). Onboards artisans through existing Common Service Centres (CSCs) and Self-Help Groups (SHGs).</a:t>
            </a:r>
          </a:p>
        </p:txBody>
      </p:sp>
      <p:sp>
        <p:nvSpPr>
          <p:cNvPr id="13" name="Rounded Rectangle 12"/>
          <p:cNvSpPr/>
          <p:nvPr/>
        </p:nvSpPr>
        <p:spPr>
          <a:xfrm>
            <a:off x="731520" y="4754880"/>
            <a:ext cx="5029200" cy="12618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4" name="Rounded Rectangle 13"/>
          <p:cNvSpPr/>
          <p:nvPr/>
        </p:nvSpPr>
        <p:spPr>
          <a:xfrm>
            <a:off x="868680" y="5074920"/>
            <a:ext cx="502920" cy="502920"/>
          </a:xfrm>
          <a:prstGeom prst="roundRect">
            <a:avLst/>
          </a:prstGeom>
          <a:solidFill>
            <a:srgbClr val="FFFFFF"/>
          </a:solidFill>
          <a:ln w="1905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7E22CE"/>
                </a:solidFill>
                <a:latin typeface="Segoe UI Symbol"/>
              </a:defRPr>
            </a:pPr>
            <a:r>
              <a:t>₹</a:t>
            </a:r>
          </a:p>
        </p:txBody>
      </p:sp>
      <p:sp>
        <p:nvSpPr>
          <p:cNvPr id="15" name="TextBox 14"/>
          <p:cNvSpPr txBox="1"/>
          <p:nvPr/>
        </p:nvSpPr>
        <p:spPr>
          <a:xfrm>
            <a:off x="1508760" y="4901184"/>
            <a:ext cx="4114800" cy="1005840"/>
          </a:xfrm>
          <a:prstGeom prst="rect">
            <a:avLst/>
          </a:prstGeom>
          <a:noFill/>
        </p:spPr>
        <p:txBody>
          <a:bodyPr wrap="square" lIns="0" rIns="0" tIns="0" bIns="0">
            <a:spAutoFit/>
          </a:bodyPr>
          <a:lstStyle/>
          <a:p>
            <a:pPr>
              <a:defRPr b="1" sz="1150">
                <a:solidFill>
                  <a:srgbClr val="0F172A"/>
                </a:solidFill>
                <a:latin typeface="Segoe UI"/>
              </a:defRPr>
            </a:pPr>
            <a:r>
              <a:t>Economic</a:t>
            </a:r>
          </a:p>
          <a:p>
            <a:pPr>
              <a:spcBef>
                <a:spcPts val="300"/>
              </a:spcBef>
              <a:defRPr sz="880">
                <a:solidFill>
                  <a:srgbClr val="334155"/>
                </a:solidFill>
                <a:latin typeface="Arial"/>
              </a:defRPr>
            </a:pPr>
            <a:r>
              <a:t>Ultra-low unit economics (&lt; ₹0.02 per cataloging event). Zero-cost on-device speech transcription, serverless cloud scale, offset by direct artisan transaction volume.</a:t>
            </a:r>
          </a:p>
        </p:txBody>
      </p:sp>
      <p:sp>
        <p:nvSpPr>
          <p:cNvPr id="16" name="TextBox 15"/>
          <p:cNvSpPr txBox="1"/>
          <p:nvPr/>
        </p:nvSpPr>
        <p:spPr>
          <a:xfrm>
            <a:off x="6217920" y="1463040"/>
            <a:ext cx="5303520" cy="365760"/>
          </a:xfrm>
          <a:prstGeom prst="rect">
            <a:avLst/>
          </a:prstGeom>
          <a:noFill/>
        </p:spPr>
        <p:txBody>
          <a:bodyPr wrap="none">
            <a:spAutoFit/>
          </a:bodyPr>
          <a:lstStyle/>
          <a:p>
            <a:pPr>
              <a:defRPr b="1" sz="1300">
                <a:solidFill>
                  <a:srgbClr val="1D3557"/>
                </a:solidFill>
                <a:latin typeface="Georgia"/>
              </a:defRPr>
            </a:pPr>
            <a:r>
              <a:t>VIABILITY  —  RISKS &amp; MITIGATION</a:t>
            </a:r>
          </a:p>
        </p:txBody>
      </p:sp>
      <p:sp>
        <p:nvSpPr>
          <p:cNvPr id="17" name="Rounded Rectangle 16"/>
          <p:cNvSpPr/>
          <p:nvPr/>
        </p:nvSpPr>
        <p:spPr>
          <a:xfrm>
            <a:off x="6217920" y="1920240"/>
            <a:ext cx="530352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a:lstStyle/>
          <a:p>
            <a:pPr algn="l"/>
            <a:r>
              <a:rPr sz="1000"/>
              <a:t>⚠️  </a:t>
            </a:r>
            <a:r>
              <a:rPr b="1" sz="950">
                <a:solidFill>
                  <a:srgbClr val="0F172A"/>
                </a:solidFill>
              </a:rPr>
              <a:t>Rural connectivity deficits in remote craft clusters</a:t>
            </a:r>
          </a:p>
          <a:p>
            <a:pPr>
              <a:spcBef>
                <a:spcPts val="300"/>
              </a:spcBef>
            </a:pPr>
            <a:r>
              <a:rPr sz="1000"/>
              <a:t>✅  </a:t>
            </a:r>
            <a:r>
              <a:rPr sz="880">
                <a:solidFill>
                  <a:srgbClr val="334155"/>
                </a:solidFill>
              </a:rPr>
              <a:t>Built-in offline-first PWA caching; queues listings locally with temporary IDs until reconnection.</a:t>
            </a:r>
          </a:p>
        </p:txBody>
      </p:sp>
      <p:sp>
        <p:nvSpPr>
          <p:cNvPr id="18" name="Rounded Rectangle 17"/>
          <p:cNvSpPr/>
          <p:nvPr/>
        </p:nvSpPr>
        <p:spPr>
          <a:xfrm>
            <a:off x="6217920" y="2999232"/>
            <a:ext cx="530352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a:lstStyle/>
          <a:p>
            <a:pPr algn="l"/>
            <a:r>
              <a:rPr sz="1000"/>
              <a:t>⚠️  </a:t>
            </a:r>
            <a:r>
              <a:rPr b="1" sz="950">
                <a:solidFill>
                  <a:srgbClr val="0F172A"/>
                </a:solidFill>
              </a:rPr>
              <a:t>Non-standardized vernacular accents across 700+ dialects</a:t>
            </a:r>
          </a:p>
          <a:p>
            <a:pPr>
              <a:spcBef>
                <a:spcPts val="300"/>
              </a:spcBef>
            </a:pPr>
            <a:r>
              <a:rPr sz="1000"/>
              <a:t>✅  </a:t>
            </a:r>
            <a:r>
              <a:rPr sz="880">
                <a:solidFill>
                  <a:srgbClr val="334155"/>
                </a:solidFill>
              </a:rPr>
              <a:t>Web Speech client capture combined with Gemini 3.7 Flash contextual phoneme correction.</a:t>
            </a:r>
          </a:p>
        </p:txBody>
      </p:sp>
      <p:sp>
        <p:nvSpPr>
          <p:cNvPr id="19" name="Rounded Rectangle 18"/>
          <p:cNvSpPr/>
          <p:nvPr/>
        </p:nvSpPr>
        <p:spPr>
          <a:xfrm>
            <a:off x="6217920" y="4078224"/>
            <a:ext cx="530352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a:lstStyle/>
          <a:p>
            <a:pPr algn="l"/>
            <a:r>
              <a:rPr sz="1000"/>
              <a:t>⚠️  </a:t>
            </a:r>
            <a:r>
              <a:rPr b="1" sz="950">
                <a:solidFill>
                  <a:srgbClr val="0F172A"/>
                </a:solidFill>
              </a:rPr>
              <a:t>Elderly master craftspersons hesitant toward digital apps</a:t>
            </a:r>
          </a:p>
          <a:p>
            <a:pPr>
              <a:spcBef>
                <a:spcPts val="300"/>
              </a:spcBef>
            </a:pPr>
            <a:r>
              <a:rPr sz="1000"/>
              <a:t>✅  </a:t>
            </a:r>
            <a:r>
              <a:rPr sz="880">
                <a:solidFill>
                  <a:srgbClr val="334155"/>
                </a:solidFill>
              </a:rPr>
              <a:t>Zero-typing voice interface, large visual tap targets, plus conversational WhatsApp audio bot.</a:t>
            </a:r>
          </a:p>
        </p:txBody>
      </p:sp>
      <p:sp>
        <p:nvSpPr>
          <p:cNvPr id="20" name="Rounded Rectangle 19"/>
          <p:cNvSpPr/>
          <p:nvPr/>
        </p:nvSpPr>
        <p:spPr>
          <a:xfrm>
            <a:off x="6217920" y="5157216"/>
            <a:ext cx="530352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09728"/>
          <a:lstStyle/>
          <a:p>
            <a:pPr algn="l"/>
            <a:r>
              <a:rPr sz="1000"/>
              <a:t>⚠️  </a:t>
            </a:r>
            <a:r>
              <a:rPr b="1" sz="950">
                <a:solidFill>
                  <a:srgbClr val="0F172A"/>
                </a:solidFill>
              </a:rPr>
              <a:t>Counterfeit factory goods attempting fraudulent GI claims</a:t>
            </a:r>
          </a:p>
          <a:p>
            <a:pPr>
              <a:spcBef>
                <a:spcPts val="300"/>
              </a:spcBef>
            </a:pPr>
            <a:r>
              <a:rPr sz="1000"/>
              <a:t>✅  </a:t>
            </a:r>
            <a:r>
              <a:rPr sz="880">
                <a:solidFill>
                  <a:srgbClr val="334155"/>
                </a:solidFill>
              </a:rPr>
              <a:t>Cluster artisan registry validation paired with tamper-evident physical QR provenance seals.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20040"/>
            <a:ext cx="1645920" cy="868680"/>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latin typeface="Georgia"/>
              </a:defRPr>
            </a:pPr>
            <a:r>
              <a:t>SOUL</a:t>
            </a:r>
          </a:p>
          <a:p>
            <a:pPr algn="ctr">
              <a:defRPr b="1" sz="850">
                <a:solidFill>
                  <a:srgbClr val="FFFFFF"/>
                </a:solidFill>
                <a:latin typeface="Arial"/>
              </a:defRPr>
            </a:pPr>
            <a:r>
              <a:t>SIH-S-B1-063</a:t>
            </a:r>
          </a:p>
        </p:txBody>
      </p:sp>
      <p:pic>
        <p:nvPicPr>
          <p:cNvPr id="4" name="Picture 3" descr="Picture_1.png"/>
          <p:cNvPicPr>
            <a:picLocks noChangeAspect="1"/>
          </p:cNvPicPr>
          <p:nvPr/>
        </p:nvPicPr>
        <p:blipFill>
          <a:blip r:embed="rId2"/>
          <a:stretch>
            <a:fillRect/>
          </a:stretch>
        </p:blipFill>
        <p:spPr>
          <a:xfrm>
            <a:off x="9875520" y="292608"/>
            <a:ext cx="1645920" cy="777173"/>
          </a:xfrm>
          <a:prstGeom prst="rect">
            <a:avLst/>
          </a:prstGeom>
        </p:spPr>
      </p:pic>
      <p:sp>
        <p:nvSpPr>
          <p:cNvPr id="5" name="TextBox 4"/>
          <p:cNvSpPr txBox="1"/>
          <p:nvPr/>
        </p:nvSpPr>
        <p:spPr>
          <a:xfrm>
            <a:off x="2468880" y="365760"/>
            <a:ext cx="7223760" cy="1005840"/>
          </a:xfrm>
          <a:prstGeom prst="rect">
            <a:avLst/>
          </a:prstGeom>
          <a:noFill/>
        </p:spPr>
        <p:txBody>
          <a:bodyPr wrap="square" tIns="0">
            <a:spAutoFit/>
          </a:bodyPr>
          <a:lstStyle/>
          <a:p>
            <a:pPr algn="ctr">
              <a:defRPr b="1" sz="2400">
                <a:solidFill>
                  <a:srgbClr val="0F172A"/>
                </a:solidFill>
                <a:latin typeface="Georgia"/>
              </a:defRPr>
            </a:pPr>
            <a:r>
              <a:t>RESEARCH AND REFERENCES</a:t>
            </a:r>
          </a:p>
        </p:txBody>
      </p:sp>
      <p:sp>
        <p:nvSpPr>
          <p:cNvPr id="6" name="TextBox 5"/>
          <p:cNvSpPr txBox="1"/>
          <p:nvPr/>
        </p:nvSpPr>
        <p:spPr>
          <a:xfrm>
            <a:off x="6217920" y="1234440"/>
            <a:ext cx="2743200" cy="365760"/>
          </a:xfrm>
          <a:prstGeom prst="rect">
            <a:avLst/>
          </a:prstGeom>
          <a:noFill/>
        </p:spPr>
        <p:txBody>
          <a:bodyPr wrap="none">
            <a:spAutoFit/>
          </a:bodyPr>
          <a:lstStyle/>
          <a:p>
            <a:pPr>
              <a:defRPr b="1" sz="1600">
                <a:solidFill>
                  <a:srgbClr val="EA580C"/>
                </a:solidFill>
                <a:latin typeface="Georgia"/>
              </a:defRPr>
            </a:pPr>
            <a:r>
              <a:t>VISION BOARD~</a:t>
            </a:r>
          </a:p>
        </p:txBody>
      </p:sp>
      <p:sp>
        <p:nvSpPr>
          <p:cNvPr id="7" name="Rounded Rectangle 6"/>
          <p:cNvSpPr/>
          <p:nvPr/>
        </p:nvSpPr>
        <p:spPr>
          <a:xfrm>
            <a:off x="731520" y="1371600"/>
            <a:ext cx="5029200" cy="6217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37160" tIns="73152"/>
          <a:lstStyle/>
          <a:p>
            <a:pPr algn="l"/>
            <a:r>
              <a:rPr b="1" sz="950">
                <a:solidFill>
                  <a:srgbClr val="7E22CE"/>
                </a:solidFill>
              </a:rPr>
              <a:t>📊  https://texmin.nic.in</a:t>
            </a:r>
          </a:p>
          <a:p>
            <a:pPr>
              <a:spcBef>
                <a:spcPts val="100"/>
              </a:spcBef>
              <a:defRPr sz="819">
                <a:solidFill>
                  <a:srgbClr val="334155"/>
                </a:solidFill>
              </a:defRPr>
            </a:pPr>
            <a:r>
              <a:t>Ministry of Textiles, GoI (Annual Report 2022-23) — Verified 60–80% middleman margin leakage.</a:t>
            </a:r>
          </a:p>
        </p:txBody>
      </p:sp>
      <p:sp>
        <p:nvSpPr>
          <p:cNvPr id="8" name="Rounded Rectangle 7"/>
          <p:cNvSpPr/>
          <p:nvPr/>
        </p:nvSpPr>
        <p:spPr>
          <a:xfrm>
            <a:off x="731520" y="2084832"/>
            <a:ext cx="5029200" cy="6217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37160" tIns="73152"/>
          <a:lstStyle/>
          <a:p>
            <a:pPr algn="l"/>
            <a:r>
              <a:rPr b="1" sz="950">
                <a:solidFill>
                  <a:srgbClr val="7E22CE"/>
                </a:solidFill>
              </a:rPr>
              <a:t>🏛️  https://pmvishwakarma.gov.in</a:t>
            </a:r>
          </a:p>
          <a:p>
            <a:pPr>
              <a:spcBef>
                <a:spcPts val="100"/>
              </a:spcBef>
              <a:defRPr sz="819">
                <a:solidFill>
                  <a:srgbClr val="334155"/>
                </a:solidFill>
              </a:defRPr>
            </a:pPr>
            <a:r>
              <a:t>PM Vishwakarma Scheme (MSME) — Verification, modern toolkit grants &amp; ₹3L credit.</a:t>
            </a:r>
          </a:p>
        </p:txBody>
      </p:sp>
      <p:sp>
        <p:nvSpPr>
          <p:cNvPr id="9" name="Rounded Rectangle 8"/>
          <p:cNvSpPr/>
          <p:nvPr/>
        </p:nvSpPr>
        <p:spPr>
          <a:xfrm>
            <a:off x="731520" y="2798064"/>
            <a:ext cx="5029200" cy="6217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37160" tIns="73152"/>
          <a:lstStyle/>
          <a:p>
            <a:pPr algn="l"/>
            <a:r>
              <a:rPr b="1" sz="950">
                <a:solidFill>
                  <a:srgbClr val="7E22CE"/>
                </a:solidFill>
              </a:rPr>
              <a:t>⚖️  https://ipindia.gov.in</a:t>
            </a:r>
          </a:p>
          <a:p>
            <a:pPr>
              <a:spcBef>
                <a:spcPts val="100"/>
              </a:spcBef>
              <a:defRPr sz="819">
                <a:solidFill>
                  <a:srgbClr val="334155"/>
                </a:solidFill>
              </a:defRPr>
            </a:pPr>
            <a:r>
              <a:t>Geographical Indications of Goods Act, 1999 — Statutory craft authenticity framework.</a:t>
            </a:r>
          </a:p>
        </p:txBody>
      </p:sp>
      <p:pic>
        <p:nvPicPr>
          <p:cNvPr id="10" name="Picture 9" descr="slide6_chart.png"/>
          <p:cNvPicPr>
            <a:picLocks noChangeAspect="1"/>
          </p:cNvPicPr>
          <p:nvPr/>
        </p:nvPicPr>
        <p:blipFill>
          <a:blip r:embed="rId3"/>
          <a:stretch>
            <a:fillRect/>
          </a:stretch>
        </p:blipFill>
        <p:spPr>
          <a:xfrm>
            <a:off x="731520" y="3794760"/>
            <a:ext cx="4572000" cy="2486526"/>
          </a:xfrm>
          <a:prstGeom prst="rect">
            <a:avLst/>
          </a:prstGeom>
        </p:spPr>
      </p:pic>
      <p:sp>
        <p:nvSpPr>
          <p:cNvPr id="11" name="Rounded Rectangle 10"/>
          <p:cNvSpPr/>
          <p:nvPr/>
        </p:nvSpPr>
        <p:spPr>
          <a:xfrm>
            <a:off x="7132320" y="1691640"/>
            <a:ext cx="4389120" cy="1371600"/>
          </a:xfrm>
          <a:prstGeom prst="roundRect">
            <a:avLst/>
          </a:prstGeom>
          <a:solidFill>
            <a:srgbClr val="F5EEFD"/>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a:lstStyle/>
          <a:p>
            <a:pPr algn="l">
              <a:defRPr sz="919">
                <a:solidFill>
                  <a:srgbClr val="0F172A"/>
                </a:solidFill>
                <a:latin typeface="Arial"/>
              </a:defRPr>
            </a:pPr>
            <a:r>
              <a:t>"This AI-driven platform leverages Web Speech recognition and Google Gemini 3.7 Flash structured intelligence to evaluate regional craft disparities in real time, restoring fair pricing, economic dignity, and verifiable authenticity to India's marginalized artisans."</a:t>
            </a:r>
          </a:p>
        </p:txBody>
      </p:sp>
      <p:sp>
        <p:nvSpPr>
          <p:cNvPr id="12" name="Down Arrow 11"/>
          <p:cNvSpPr/>
          <p:nvPr/>
        </p:nvSpPr>
        <p:spPr>
          <a:xfrm rot="1200000">
            <a:off x="6492240" y="2011680"/>
            <a:ext cx="411480" cy="1005840"/>
          </a:xfrm>
          <a:prstGeom prst="down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lide6_analytics.png"/>
          <p:cNvPicPr>
            <a:picLocks noChangeAspect="1"/>
          </p:cNvPicPr>
          <p:nvPr/>
        </p:nvPicPr>
        <p:blipFill>
          <a:blip r:embed="rId4"/>
          <a:stretch>
            <a:fillRect/>
          </a:stretch>
        </p:blipFill>
        <p:spPr>
          <a:xfrm>
            <a:off x="6217920" y="3337560"/>
            <a:ext cx="5303520" cy="31821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